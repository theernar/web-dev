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5" r:id="rId10"/>
    <p:sldId id="261" r:id="rId11"/>
    <p:sldId id="262" r:id="rId12"/>
    <p:sldId id="263" r:id="rId13"/>
    <p:sldId id="264" r:id="rId14"/>
    <p:sldId id="266" r:id="rId15"/>
    <p:sldId id="267" r:id="rId16"/>
    <p:sldId id="268" r:id="rId17"/>
    <p:sldId id="269" r:id="rId18"/>
    <p:sldId id="275" r:id="rId19"/>
    <p:sldId id="276" r:id="rId20"/>
    <p:sldId id="277" r:id="rId21"/>
    <p:sldId id="278" r:id="rId22"/>
    <p:sldId id="279" r:id="rId23"/>
    <p:sldId id="270" r:id="rId24"/>
    <p:sldId id="272" r:id="rId25"/>
    <p:sldId id="273" r:id="rId26"/>
    <p:sldId id="274" r:id="rId27"/>
    <p:sldId id="271" r:id="rId28"/>
    <p:sldId id="280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6CF36F-9885-46A5-3F22-66D067544710}" v="4" dt="2026-02-10T03:38:40.2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la Taubay" userId="S::l_taubay@kbtu.kz::4976e8f5-7026-4afc-90a8-04f0e8ca5463" providerId="AD" clId="Web-{2D6CF36F-9885-46A5-3F22-66D067544710}"/>
    <pc:docChg chg="addSld delSld">
      <pc:chgData name="Laila Taubay" userId="S::l_taubay@kbtu.kz::4976e8f5-7026-4afc-90a8-04f0e8ca5463" providerId="AD" clId="Web-{2D6CF36F-9885-46A5-3F22-66D067544710}" dt="2026-02-10T03:38:40.263" v="3"/>
      <pc:docMkLst>
        <pc:docMk/>
      </pc:docMkLst>
      <pc:sldChg chg="new del">
        <pc:chgData name="Laila Taubay" userId="S::l_taubay@kbtu.kz::4976e8f5-7026-4afc-90a8-04f0e8ca5463" providerId="AD" clId="Web-{2D6CF36F-9885-46A5-3F22-66D067544710}" dt="2026-02-10T03:38:40.263" v="3"/>
        <pc:sldMkLst>
          <pc:docMk/>
          <pc:sldMk cId="4140909135" sldId="281"/>
        </pc:sldMkLst>
      </pc:sldChg>
      <pc:sldChg chg="new del">
        <pc:chgData name="Laila Taubay" userId="S::l_taubay@kbtu.kz::4976e8f5-7026-4afc-90a8-04f0e8ca5463" providerId="AD" clId="Web-{2D6CF36F-9885-46A5-3F22-66D067544710}" dt="2026-02-10T03:38:39.153" v="2"/>
        <pc:sldMkLst>
          <pc:docMk/>
          <pc:sldMk cId="2771180016" sldId="2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C0351-BA81-5860-C8F4-DB1063258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7356FB-40C4-A63D-D516-BD6BCD326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779869-39A9-19AF-95C5-0A10024C1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094956-75A8-0A8C-0970-B49307BC8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66B59A-3666-B477-C6BE-A74EFA6C8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670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4404CC-650E-BC0D-A4AA-2AADE5AB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5AE971-DFD4-A1AC-BBC7-EED779B49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58B619-23D2-9B4D-83B1-144357F5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0576E0-1555-C08D-E101-C0D622D18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6A05B0-4C3F-F51C-A75C-7D04C8DB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877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58EFA8-C81E-A1CA-0029-4EC4F32BF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430F08-D0DA-10A4-E46E-91E6F780A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6F0CD9-27A6-87BA-3420-E0A8A6DD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0DBCD8-3FD2-91EA-F873-7E5021911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62673F-E152-50A5-3DDE-D3517BAB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238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00154B-BA6A-CB51-D90D-32B3268D8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52F48B-C8B2-6741-1500-47A2801FFA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0374EF-BFA5-DDE7-0E88-888A931B0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15249C-EE89-1E7D-5F43-ABCE4069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502B0D-339B-4AB9-4810-352F0D3E6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F338B7-AC08-C053-38D9-92E218CD6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064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DC324-74E5-43DF-F03D-5921DF86D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0F5C52-AC8F-4633-AC4B-DF9845485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0C35D4-A16A-3330-3E87-E93C20AE5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EFBA325-E83A-DB5F-5F85-C708EB81A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80A03AD-C278-3C4C-AC79-85D8470C63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CB9D3A4-20AA-B6DB-EF4A-D9274C10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887C9-AAD7-386E-2758-18B6FFDAD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B67A971-9786-76D6-49DC-3DB4FE678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904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0A79D-B81E-71A8-FB72-C4F02C543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7667C15-1818-3640-995C-FE77F34D9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97A12EA-3507-9AD7-EA07-B67914001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5A6C94-551E-47C5-B00C-B2EE98D0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36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BD02F10-448B-C081-25E7-DA06FAEF7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556BC7D-F85A-58AA-A4A9-D2A96DBE8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4A7E3E-7293-CA38-4539-84E84FE23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917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79C8B0-DF27-5856-1298-E8BD62D9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DFEABF-0744-4173-74FD-5A1FCEC1A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153F5D-1152-188D-4F34-7F13232A5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FB16CC-A84C-11D9-AFCB-5885920CB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3984EC-0345-266F-9A4A-92BF5DD93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B82523-2937-0EF4-0465-6D30124A4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1004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151F6-3E84-256A-2621-6EF0B3876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9B71D52-6F53-421D-ECAC-FAF21340E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0EA688-07B8-43D7-CCBE-90A6285D6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500E01-7E3C-F5F3-E321-87492FD77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30685D-0CC0-1337-5D2F-F265EA36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F7593B-FEB9-BC1A-18DD-947D03FD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605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1C1C4-6FC7-3945-02D4-1106B690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EB0E52-AF87-6D76-3BE1-961443562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9F70BE-D1AC-5ADF-052F-2D77DF2E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1E53A1-FFFE-D9EF-5069-19792C5D2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8E641E-2319-2ECC-663F-5C5E6995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1820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D334520-BF06-C20C-6BB5-B2D5FD03C7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39388CB-C2B7-D106-207C-4CF44BEF9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6A1705-C6A9-398D-15A8-F81B7FB6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F71EEA-EFB5-ECB9-91B7-5FBA83707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579D81-1FA4-9B7E-FC53-F2537AAA8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423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A8F5E-D80A-9041-7E7D-C5D2DD937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09D5E6-2A35-1C0B-6DBD-0400DE042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0B5F09-5A04-9440-B4CF-F5D6F6D07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7A7F85-CE5E-4F44-9766-02FEC32E1700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6991A2-2563-CC16-B6CB-AD868D081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A42931-1290-AC9E-F413-EC4A0B3A0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03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428BB-AC49-F29D-11E2-BB31AFD8E5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>
                <a:latin typeface="Colibri"/>
              </a:rPr>
              <a:t>Introduction to JavaScript</a:t>
            </a:r>
            <a:endParaRPr lang="ru-RU" sz="5400" b="1">
              <a:latin typeface="Colibri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D1773F4-1CDC-CA89-2FA4-3467E9A1F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7802"/>
            <a:ext cx="9144000" cy="549998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64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646B5A-25D3-7243-8860-723976621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libri"/>
              </a:rPr>
              <a:t>What is JavaScript?</a:t>
            </a:r>
            <a:endParaRPr lang="ru-RU">
              <a:latin typeface="Colibri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2ABD26-C6C8-8DCB-0E49-9522737CD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/>
              <a:t>A high-level, dynamic programming language primarily used for enhancing web pages and creating interactive content.</a:t>
            </a:r>
          </a:p>
          <a:p>
            <a:pPr marL="0" indent="0">
              <a:buNone/>
            </a:pPr>
            <a:endParaRPr lang="en-US"/>
          </a:p>
          <a:p>
            <a:pPr>
              <a:buFont typeface="Wingdings" panose="05000000000000000000" pitchFamily="2" charset="2"/>
              <a:buChar char="ü"/>
            </a:pPr>
            <a:r>
              <a:rPr lang="en-US"/>
              <a:t>Interpreted, object-oriented, first-class functions.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/>
          </a:p>
          <a:p>
            <a:pPr>
              <a:buFont typeface="Wingdings" panose="05000000000000000000" pitchFamily="2" charset="2"/>
              <a:buChar char="ü"/>
            </a:pPr>
            <a:r>
              <a:rPr lang="fr-FR"/>
              <a:t>Enhances user experience (e.g., DOM manipulation).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4793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11AA4-3AFF-6F26-A694-FF04F91E9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libri"/>
              </a:rPr>
              <a:t>History of JavaScript</a:t>
            </a:r>
            <a:endParaRPr lang="ru-RU">
              <a:latin typeface="Colibri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5997F9-D547-4DA6-AF37-AE22F83AE1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7225" y="2093834"/>
            <a:ext cx="1071754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Created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by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Brendan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Eich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in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1995.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Originally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called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Mocha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then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LiveScript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and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finally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JavaScript.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ECMAScript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Standardized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version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of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JavaScript. </a:t>
            </a:r>
          </a:p>
        </p:txBody>
      </p:sp>
    </p:spTree>
    <p:extLst>
      <p:ext uri="{BB962C8B-B14F-4D97-AF65-F5344CB8AC3E}">
        <p14:creationId xmlns:p14="http://schemas.microsoft.com/office/powerpoint/2010/main" val="2199495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5EE81-6DBF-64CA-7333-18E5433E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JavaScript Syntax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998512-5506-6F22-1E2C-89A86AD91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Variables:</a:t>
            </a:r>
            <a:r>
              <a:rPr lang="en-US"/>
              <a:t> </a:t>
            </a:r>
            <a:r>
              <a:rPr lang="en-US" i="1"/>
              <a:t>let, const, var </a:t>
            </a:r>
          </a:p>
          <a:p>
            <a:pPr marL="0" indent="0">
              <a:buNone/>
            </a:pPr>
            <a:r>
              <a:rPr lang="en-US"/>
              <a:t>Example: </a:t>
            </a:r>
          </a:p>
          <a:p>
            <a:pPr marL="0" indent="0">
              <a:buNone/>
            </a:pPr>
            <a:r>
              <a:rPr lang="en-US"/>
              <a:t>let name = "Alice";</a:t>
            </a:r>
          </a:p>
          <a:p>
            <a:pPr marL="0" indent="0">
              <a:buNone/>
            </a:pPr>
            <a:r>
              <a:rPr lang="en-US"/>
              <a:t>const age = 25;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860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729867-F794-D845-9D62-64B84DDCE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Types</a:t>
            </a:r>
            <a:endParaRPr lang="ru-RU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494B59-C565-4C81-CA16-74264796FB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5772" y="2157167"/>
            <a:ext cx="105006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Primitive</a:t>
            </a:r>
            <a:r>
              <a:rPr kumimoji="0" lang="ru-RU" altLang="ru-RU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Types</a:t>
            </a:r>
            <a:r>
              <a:rPr kumimoji="0" lang="ru-RU" altLang="ru-RU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Strings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Numbers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Booleans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null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undefined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Symbols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Complex</a:t>
            </a:r>
            <a:r>
              <a:rPr kumimoji="0" lang="ru-RU" altLang="ru-RU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Types</a:t>
            </a:r>
            <a:r>
              <a:rPr kumimoji="0" lang="ru-RU" altLang="ru-RU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Objects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Arrays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51643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D25D4-AE3F-5DDB-991F-A3F4DF0D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Operators</a:t>
            </a:r>
            <a:endParaRPr lang="ru-RU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7E5880B-10D5-9C61-44FB-BF72380C7C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6841" y="2093834"/>
            <a:ext cx="638886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Arithmetic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Operators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+, -, *, /, 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Comparison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Operators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===, !==, &gt;, &lt;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Logical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Operators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&amp;&amp;, ||, ! </a:t>
            </a:r>
          </a:p>
        </p:txBody>
      </p:sp>
    </p:spTree>
    <p:extLst>
      <p:ext uri="{BB962C8B-B14F-4D97-AF65-F5344CB8AC3E}">
        <p14:creationId xmlns:p14="http://schemas.microsoft.com/office/powerpoint/2010/main" val="3475708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EC953-2258-186B-5C62-B9C23B361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 Structures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0A10EA-BA0C-D868-A957-433C5F012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Conditional Statements:</a:t>
            </a:r>
            <a:r>
              <a:rPr lang="en-US"/>
              <a:t> if, else, switch</a:t>
            </a:r>
          </a:p>
          <a:p>
            <a:pPr marL="0" indent="0">
              <a:buNone/>
            </a:pPr>
            <a:r>
              <a:rPr lang="en-US"/>
              <a:t> Example:</a:t>
            </a:r>
          </a:p>
          <a:p>
            <a:pPr marL="0" indent="0">
              <a:buNone/>
            </a:pPr>
            <a:r>
              <a:rPr lang="en-US"/>
              <a:t>if (age &gt; 18) {</a:t>
            </a:r>
          </a:p>
          <a:p>
            <a:pPr marL="0" indent="0">
              <a:buNone/>
            </a:pPr>
            <a:r>
              <a:rPr lang="en-US"/>
              <a:t>console.log("Adult");</a:t>
            </a:r>
          </a:p>
          <a:p>
            <a:pPr marL="0" indent="0">
              <a:buNone/>
            </a:pPr>
            <a:r>
              <a:rPr lang="en-US"/>
              <a:t>} else {</a:t>
            </a:r>
          </a:p>
          <a:p>
            <a:pPr marL="0" indent="0">
              <a:buNone/>
            </a:pPr>
            <a:r>
              <a:rPr lang="en-US"/>
              <a:t>console.log("Minor");</a:t>
            </a:r>
          </a:p>
          <a:p>
            <a:pPr marL="0" indent="0">
              <a:buNone/>
            </a:pPr>
            <a:r>
              <a:rPr lang="en-US"/>
              <a:t>}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09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0F72F-79F1-F42F-3E07-DDE876AA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Loops</a:t>
            </a:r>
            <a:endParaRPr lang="ru-RU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08540A-F731-6E07-D6C8-A420BB89EA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44468"/>
            <a:ext cx="307379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For </a:t>
            </a:r>
            <a:r>
              <a:rPr kumimoji="0" lang="ru-RU" altLang="ru-RU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Loop</a:t>
            </a: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ru-RU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Example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for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(</a:t>
            </a: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let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i = 0; i &lt; 5; i++) {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console.log(i); 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While</a:t>
            </a: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Loop</a:t>
            </a: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ru-RU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Example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let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i = 0; 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while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(i &lt; 5) { 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console.log(i); 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i++; 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</p:txBody>
      </p:sp>
    </p:spTree>
    <p:extLst>
      <p:ext uri="{BB962C8B-B14F-4D97-AF65-F5344CB8AC3E}">
        <p14:creationId xmlns:p14="http://schemas.microsoft.com/office/powerpoint/2010/main" val="1320751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E8F14-C362-E568-E552-9DA32060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</a:t>
            </a:r>
            <a:endParaRPr lang="ru-RU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4C78AE0-BF8E-E0A6-B8F0-414E29B8E8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47024"/>
            <a:ext cx="904587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Definition: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Block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of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code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designed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to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perform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a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specific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task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Syntax</a:t>
            </a:r>
            <a:r>
              <a:rPr kumimoji="0" lang="ru-RU" altLang="ru-RU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Function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Declaration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en-US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function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greet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() {</a:t>
            </a:r>
            <a:endParaRPr kumimoji="0" lang="en-US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console.log("Hello!"); </a:t>
            </a:r>
            <a:endParaRPr kumimoji="0" lang="en-US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</p:txBody>
      </p:sp>
    </p:spTree>
    <p:extLst>
      <p:ext uri="{BB962C8B-B14F-4D97-AF65-F5344CB8AC3E}">
        <p14:creationId xmlns:p14="http://schemas.microsoft.com/office/powerpoint/2010/main" val="3585746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AF47C-173F-4BBA-083E-9F5AA3D95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 Manipulation</a:t>
            </a:r>
            <a:endParaRPr lang="ru-RU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1EC705-0025-EF9C-722D-26438A0AA1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3222" y="1927275"/>
            <a:ext cx="910300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What </a:t>
            </a:r>
            <a:r>
              <a:rPr kumimoji="0" lang="ru-RU" altLang="ru-RU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is</a:t>
            </a: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the</a:t>
            </a: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DOM?</a:t>
            </a:r>
            <a:endParaRPr kumimoji="0" lang="en-US" alt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Document Object Model, </a:t>
            </a: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representing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the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structure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of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HTML.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u-RU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Example</a:t>
            </a: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of</a:t>
            </a: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Manipulation</a:t>
            </a: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en-US" alt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document.getElementById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("</a:t>
            </a: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myElement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").</a:t>
            </a: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innerHTML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= "Hello World!"; </a:t>
            </a:r>
          </a:p>
        </p:txBody>
      </p:sp>
    </p:spTree>
    <p:extLst>
      <p:ext uri="{BB962C8B-B14F-4D97-AF65-F5344CB8AC3E}">
        <p14:creationId xmlns:p14="http://schemas.microsoft.com/office/powerpoint/2010/main" val="244398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1BC5B-E212-F7A9-7818-1CD1DB26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 Development with JavaScript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195769-9F77-1E96-C694-BC92DCB10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600" b="1"/>
              <a:t>The Role of JavaScript in Front-End Development:</a:t>
            </a:r>
          </a:p>
          <a:p>
            <a:pPr marL="0" indent="0">
              <a:buNone/>
            </a:pPr>
            <a:endParaRPr lang="en-US" sz="2400" b="1"/>
          </a:p>
          <a:p>
            <a:pPr>
              <a:buFont typeface="Wingdings" panose="05000000000000000000" pitchFamily="2" charset="2"/>
              <a:buChar char="ü"/>
            </a:pPr>
            <a:r>
              <a:rPr lang="en-US" sz="2400"/>
              <a:t>Allows for real-time updates without reloading the page.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/>
              <a:t>Handles events like clicks, form submissions, and more.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/>
              <a:t>Works alongside HTML for structure and CSS for styling.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287317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9950B-F596-4A45-0C90-1B97190C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HTML, CSS, and JavaScript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D85A16-8034-C7E8-7ACF-CA68E663E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HTML:</a:t>
            </a:r>
            <a:r>
              <a:rPr lang="en-US"/>
              <a:t> Structure of web pages.</a:t>
            </a:r>
          </a:p>
          <a:p>
            <a:pPr marL="0" indent="0">
              <a:buNone/>
            </a:pPr>
            <a:r>
              <a:rPr lang="en-US" b="1"/>
              <a:t>CSS:</a:t>
            </a:r>
            <a:r>
              <a:rPr lang="en-US"/>
              <a:t> Styling and layout.</a:t>
            </a:r>
          </a:p>
          <a:p>
            <a:pPr marL="0" indent="0">
              <a:buNone/>
            </a:pPr>
            <a:r>
              <a:rPr lang="en-US" b="1"/>
              <a:t>JavaScript:</a:t>
            </a:r>
            <a:r>
              <a:rPr lang="en-US"/>
              <a:t> Adds behavior and interactivity.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6210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F09B4-23E0-5328-A0D0-D622707AD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JavaScript in the Browser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B4A8F9-64D5-D554-D1FB-5BEC4DDD5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Inside the &lt;script&gt; tag of HTML.</a:t>
            </a:r>
          </a:p>
          <a:p>
            <a:r>
              <a:rPr lang="en-US"/>
              <a:t>As an external file linked to HTML.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248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FD9C44-64C9-0DAC-43FA-974B56B80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 (Document Object Model)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47CE2C-B1D0-4E90-C783-A8DD11E1C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  <a:p>
            <a:r>
              <a:rPr lang="en-US"/>
              <a:t>A programming interface for HTML and XML documents.</a:t>
            </a:r>
            <a:endParaRPr lang="kk-KZ"/>
          </a:p>
          <a:p>
            <a:endParaRPr lang="kk-KZ"/>
          </a:p>
          <a:p>
            <a:endParaRPr lang="kk-KZ"/>
          </a:p>
          <a:p>
            <a:pPr marL="0" indent="0">
              <a:buNone/>
            </a:pPr>
            <a:endParaRPr lang="en-US"/>
          </a:p>
          <a:p>
            <a:r>
              <a:rPr lang="en-US"/>
              <a:t>Represents the page as a tree of objects.</a:t>
            </a:r>
          </a:p>
          <a:p>
            <a:pPr marL="0" indent="0">
              <a:buNone/>
            </a:pPr>
            <a:r>
              <a:rPr lang="en-US" i="1" err="1"/>
              <a:t>document.getElementById</a:t>
            </a:r>
            <a:r>
              <a:rPr lang="en-US" i="1"/>
              <a:t>("</a:t>
            </a:r>
            <a:r>
              <a:rPr lang="en-US" i="1" err="1"/>
              <a:t>myElement</a:t>
            </a:r>
            <a:r>
              <a:rPr lang="en-US" i="1"/>
              <a:t>").</a:t>
            </a:r>
            <a:r>
              <a:rPr lang="en-US" i="1" err="1"/>
              <a:t>innerText</a:t>
            </a:r>
            <a:r>
              <a:rPr lang="en-US" i="1"/>
              <a:t> = "Hello, World!";</a:t>
            </a:r>
          </a:p>
          <a:p>
            <a:endParaRPr lang="ru-RU"/>
          </a:p>
        </p:txBody>
      </p:sp>
      <p:pic>
        <p:nvPicPr>
          <p:cNvPr id="5" name="Рисунок 4" descr="Изображение выглядит как Шрифт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F596424-683E-6A45-80DB-E184CA77D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158" y="2953544"/>
            <a:ext cx="12382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29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FAD52-9471-1771-7C28-C6F7CA57E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60">
                <a:latin typeface="Calibri" panose="020F0502020204030204" pitchFamily="34" charset="0"/>
                <a:cs typeface="Calibri" panose="020F0502020204030204" pitchFamily="34" charset="0"/>
              </a:rPr>
              <a:t>DOM</a:t>
            </a:r>
            <a:r>
              <a:rPr lang="en-US" spc="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270">
                <a:latin typeface="Calibri" panose="020F0502020204030204" pitchFamily="34" charset="0"/>
                <a:cs typeface="Calibri" panose="020F0502020204030204" pitchFamily="34" charset="0"/>
              </a:rPr>
              <a:t>hierarchy</a:t>
            </a:r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7B189B-DDA8-E62A-DDE6-EB39B787F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20065" indent="-507365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lang="en-US" sz="2400">
                <a:latin typeface="Arial MT"/>
                <a:cs typeface="Arial MT"/>
              </a:rPr>
              <a:t>Rooted</a:t>
            </a:r>
            <a:r>
              <a:rPr lang="en-US" sz="2400" spc="-170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at</a:t>
            </a:r>
            <a:r>
              <a:rPr lang="en-US" sz="2400" spc="-170">
                <a:latin typeface="Arial MT"/>
                <a:cs typeface="Arial MT"/>
              </a:rPr>
              <a:t> </a:t>
            </a:r>
            <a:r>
              <a:rPr lang="en-US" sz="2400" spc="-10" err="1">
                <a:latin typeface="Courier New"/>
                <a:cs typeface="Courier New"/>
              </a:rPr>
              <a:t>window.document</a:t>
            </a:r>
            <a:endParaRPr lang="en-US"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30"/>
              </a:spcBef>
              <a:buFont typeface="Arial MT"/>
              <a:buChar char="•"/>
            </a:pPr>
            <a:endParaRPr lang="en-US" sz="2400">
              <a:latin typeface="Courier New"/>
              <a:cs typeface="Courier New"/>
            </a:endParaRPr>
          </a:p>
          <a:p>
            <a:pPr marL="520065" indent="-507365">
              <a:lnSpc>
                <a:spcPct val="100000"/>
              </a:lnSpc>
              <a:tabLst>
                <a:tab pos="520065" algn="l"/>
              </a:tabLst>
            </a:pPr>
            <a:r>
              <a:rPr lang="en-US" sz="2400" spc="-70">
                <a:latin typeface="Arial MT"/>
                <a:cs typeface="Arial MT"/>
              </a:rPr>
              <a:t>Follows</a:t>
            </a:r>
            <a:r>
              <a:rPr lang="en-US" sz="2400" spc="-175">
                <a:latin typeface="Arial MT"/>
                <a:cs typeface="Arial MT"/>
              </a:rPr>
              <a:t> </a:t>
            </a:r>
            <a:r>
              <a:rPr lang="en-US" sz="2400" spc="-55">
                <a:latin typeface="Arial MT"/>
                <a:cs typeface="Arial MT"/>
              </a:rPr>
              <a:t>HTML</a:t>
            </a:r>
            <a:r>
              <a:rPr lang="en-US" sz="2400" spc="-170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document</a:t>
            </a:r>
            <a:r>
              <a:rPr lang="en-US" sz="2400" spc="-175">
                <a:latin typeface="Arial MT"/>
                <a:cs typeface="Arial MT"/>
              </a:rPr>
              <a:t> </a:t>
            </a:r>
            <a:r>
              <a:rPr lang="en-US" sz="2400" spc="-10">
                <a:latin typeface="Arial MT"/>
                <a:cs typeface="Arial MT"/>
              </a:rPr>
              <a:t>structure</a:t>
            </a:r>
            <a:endParaRPr lang="en-US"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lang="en-US" sz="2400">
              <a:latin typeface="Arial MT"/>
              <a:cs typeface="Arial MT"/>
            </a:endParaRPr>
          </a:p>
          <a:p>
            <a:pPr marL="1409065" lvl="1" indent="-507365">
              <a:lnSpc>
                <a:spcPct val="100000"/>
              </a:lnSpc>
              <a:tabLst>
                <a:tab pos="1409065" algn="l"/>
              </a:tabLst>
            </a:pPr>
            <a:r>
              <a:rPr lang="en-US" spc="-10" err="1">
                <a:latin typeface="Courier New"/>
                <a:cs typeface="Courier New"/>
              </a:rPr>
              <a:t>window.document.head</a:t>
            </a:r>
            <a:endParaRPr lang="en-US">
              <a:latin typeface="Courier New"/>
              <a:cs typeface="Courier New"/>
            </a:endParaRPr>
          </a:p>
          <a:p>
            <a:pPr lvl="1">
              <a:lnSpc>
                <a:spcPct val="100000"/>
              </a:lnSpc>
              <a:spcBef>
                <a:spcPts val="200"/>
              </a:spcBef>
              <a:buFont typeface="Courier New"/>
              <a:buChar char="•"/>
            </a:pPr>
            <a:endParaRPr lang="en-US">
              <a:latin typeface="Courier New"/>
              <a:cs typeface="Courier New"/>
            </a:endParaRPr>
          </a:p>
          <a:p>
            <a:pPr marL="1409065" lvl="1" indent="-507365">
              <a:lnSpc>
                <a:spcPct val="100000"/>
              </a:lnSpc>
              <a:spcBef>
                <a:spcPts val="5"/>
              </a:spcBef>
              <a:tabLst>
                <a:tab pos="1409065" algn="l"/>
              </a:tabLst>
            </a:pPr>
            <a:r>
              <a:rPr lang="en-US" spc="-10" err="1">
                <a:latin typeface="Courier New"/>
                <a:cs typeface="Courier New"/>
              </a:rPr>
              <a:t>window.document.body</a:t>
            </a:r>
            <a:endParaRPr lang="en-US">
              <a:latin typeface="Courier New"/>
              <a:cs typeface="Courier New"/>
            </a:endParaRPr>
          </a:p>
          <a:p>
            <a:pPr marL="520700" marR="5080" indent="-508000">
              <a:lnSpc>
                <a:spcPts val="9090"/>
              </a:lnSpc>
              <a:tabLst>
                <a:tab pos="520700" algn="l"/>
              </a:tabLst>
            </a:pPr>
            <a:r>
              <a:rPr lang="en-US" sz="2400" spc="-50">
                <a:latin typeface="Arial MT"/>
                <a:cs typeface="Arial MT"/>
              </a:rPr>
              <a:t>DOM</a:t>
            </a:r>
            <a:r>
              <a:rPr lang="en-US" sz="2400" spc="-160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objects</a:t>
            </a:r>
            <a:r>
              <a:rPr lang="en-US" sz="2400" spc="-155">
                <a:latin typeface="Arial MT"/>
                <a:cs typeface="Arial MT"/>
              </a:rPr>
              <a:t> </a:t>
            </a:r>
            <a:r>
              <a:rPr lang="en-US" sz="2400" spc="-80">
                <a:latin typeface="Arial MT"/>
                <a:cs typeface="Arial MT"/>
              </a:rPr>
              <a:t>have</a:t>
            </a:r>
            <a:r>
              <a:rPr lang="en-US" sz="2400" spc="-160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tons</a:t>
            </a:r>
            <a:r>
              <a:rPr lang="en-US" sz="2400" spc="-155">
                <a:latin typeface="Arial MT"/>
                <a:cs typeface="Arial MT"/>
              </a:rPr>
              <a:t> </a:t>
            </a:r>
            <a:r>
              <a:rPr lang="en-US" sz="2400" spc="-85">
                <a:latin typeface="Arial MT"/>
                <a:cs typeface="Arial MT"/>
              </a:rPr>
              <a:t>(~250)</a:t>
            </a:r>
            <a:r>
              <a:rPr lang="en-US" sz="2400" spc="-155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of</a:t>
            </a:r>
            <a:r>
              <a:rPr lang="en-US" sz="2400" spc="-160">
                <a:latin typeface="Arial MT"/>
                <a:cs typeface="Arial MT"/>
              </a:rPr>
              <a:t> </a:t>
            </a:r>
            <a:r>
              <a:rPr lang="en-US" sz="2400" spc="-35">
                <a:latin typeface="Arial MT"/>
                <a:cs typeface="Arial MT"/>
              </a:rPr>
              <a:t>properties, </a:t>
            </a:r>
            <a:r>
              <a:rPr lang="en-US" sz="2400">
                <a:latin typeface="Arial MT"/>
                <a:cs typeface="Arial MT"/>
              </a:rPr>
              <a:t>most </a:t>
            </a:r>
            <a:r>
              <a:rPr lang="en-US" sz="2400" spc="-10">
                <a:latin typeface="Arial MT"/>
                <a:cs typeface="Arial MT"/>
              </a:rPr>
              <a:t>private</a:t>
            </a:r>
            <a:endParaRPr lang="en-US" sz="2400">
              <a:latin typeface="Arial MT"/>
              <a:cs typeface="Arial MT"/>
            </a:endParaRPr>
          </a:p>
          <a:p>
            <a:pPr marL="0" indent="0">
              <a:buNone/>
            </a:pP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534288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8ECD46-7A5F-2EF5-B102-318958A3E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14"/>
              <a:t>Accessing</a:t>
            </a:r>
            <a:r>
              <a:rPr lang="en-US" spc="-105"/>
              <a:t> </a:t>
            </a:r>
            <a:r>
              <a:rPr lang="en-US" spc="-260"/>
              <a:t>DOM</a:t>
            </a:r>
            <a:r>
              <a:rPr lang="en-US" spc="-105"/>
              <a:t> </a:t>
            </a:r>
            <a:r>
              <a:rPr lang="en-US" spc="-100"/>
              <a:t>Nodes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658ACC-807B-EF84-0093-57165B084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20065" indent="-507365">
              <a:lnSpc>
                <a:spcPct val="100000"/>
              </a:lnSpc>
              <a:spcBef>
                <a:spcPts val="2215"/>
              </a:spcBef>
              <a:tabLst>
                <a:tab pos="520065" algn="l"/>
              </a:tabLst>
            </a:pPr>
            <a:r>
              <a:rPr lang="en-US" sz="1800" spc="-120">
                <a:latin typeface="Arial MT"/>
                <a:cs typeface="Arial MT"/>
              </a:rPr>
              <a:t>Walk</a:t>
            </a:r>
            <a:r>
              <a:rPr lang="en-US" sz="1800" spc="-145">
                <a:latin typeface="Arial MT"/>
                <a:cs typeface="Arial MT"/>
              </a:rPr>
              <a:t> </a:t>
            </a:r>
            <a:r>
              <a:rPr lang="en-US" sz="1800" spc="-50">
                <a:latin typeface="Arial MT"/>
                <a:cs typeface="Arial MT"/>
              </a:rPr>
              <a:t>DOM</a:t>
            </a:r>
            <a:r>
              <a:rPr lang="en-US" sz="1800" spc="-175">
                <a:latin typeface="Arial MT"/>
                <a:cs typeface="Arial MT"/>
              </a:rPr>
              <a:t> </a:t>
            </a:r>
            <a:r>
              <a:rPr lang="en-US" sz="1800" spc="-90">
                <a:latin typeface="Arial MT"/>
                <a:cs typeface="Arial MT"/>
              </a:rPr>
              <a:t>hierarchy</a:t>
            </a:r>
            <a:r>
              <a:rPr lang="en-US" sz="1800" spc="-160">
                <a:latin typeface="Arial MT"/>
                <a:cs typeface="Arial MT"/>
              </a:rPr>
              <a:t> </a:t>
            </a:r>
            <a:r>
              <a:rPr lang="en-US" sz="1800" spc="-50">
                <a:latin typeface="Arial MT"/>
                <a:cs typeface="Arial MT"/>
              </a:rPr>
              <a:t>(not</a:t>
            </a:r>
            <a:r>
              <a:rPr lang="en-US" sz="1800" spc="-160">
                <a:latin typeface="Arial MT"/>
                <a:cs typeface="Arial MT"/>
              </a:rPr>
              <a:t> </a:t>
            </a:r>
            <a:r>
              <a:rPr lang="en-US" sz="1800" spc="-10">
                <a:latin typeface="Arial MT"/>
                <a:cs typeface="Arial MT"/>
              </a:rPr>
              <a:t>recommended)</a:t>
            </a:r>
            <a:endParaRPr lang="en-US" sz="1800">
              <a:latin typeface="Arial MT"/>
              <a:cs typeface="Arial MT"/>
            </a:endParaRPr>
          </a:p>
          <a:p>
            <a:pPr marL="457200" lvl="1" indent="0">
              <a:lnSpc>
                <a:spcPct val="100000"/>
              </a:lnSpc>
              <a:spcBef>
                <a:spcPts val="1390"/>
              </a:spcBef>
              <a:buNone/>
              <a:tabLst>
                <a:tab pos="837565" algn="l"/>
                <a:tab pos="2362200" algn="l"/>
                <a:tab pos="2743200" algn="l"/>
              </a:tabLst>
            </a:pPr>
            <a:r>
              <a:rPr lang="en-US" sz="1800" spc="-10">
                <a:latin typeface="Courier New"/>
                <a:cs typeface="Courier New"/>
              </a:rPr>
              <a:t>element</a:t>
            </a:r>
            <a:r>
              <a:rPr lang="en-US" sz="1800">
                <a:latin typeface="Courier New"/>
                <a:cs typeface="Courier New"/>
              </a:rPr>
              <a:t>	</a:t>
            </a:r>
            <a:r>
              <a:rPr lang="en-US" sz="1800" spc="-50">
                <a:latin typeface="Courier New"/>
                <a:cs typeface="Courier New"/>
              </a:rPr>
              <a:t>=</a:t>
            </a:r>
            <a:r>
              <a:rPr lang="en-US" sz="1800">
                <a:latin typeface="Courier New"/>
                <a:cs typeface="Courier New"/>
              </a:rPr>
              <a:t>	</a:t>
            </a:r>
            <a:r>
              <a:rPr lang="en-US" sz="1800" spc="-10" err="1">
                <a:latin typeface="Courier New"/>
                <a:cs typeface="Courier New"/>
              </a:rPr>
              <a:t>document.body.firstChild.nextSibling.firstChild</a:t>
            </a:r>
            <a:r>
              <a:rPr lang="en-US" sz="1800" spc="-10">
                <a:latin typeface="Courier New"/>
                <a:cs typeface="Courier New"/>
              </a:rPr>
              <a:t>;</a:t>
            </a:r>
            <a:endParaRPr lang="en-US" sz="1800">
              <a:latin typeface="Courier New"/>
              <a:cs typeface="Courier New"/>
            </a:endParaRPr>
          </a:p>
          <a:p>
            <a:pPr lvl="1">
              <a:lnSpc>
                <a:spcPct val="100000"/>
              </a:lnSpc>
              <a:spcBef>
                <a:spcPts val="1175"/>
              </a:spcBef>
              <a:buFont typeface="Courier New"/>
              <a:buChar char="•"/>
            </a:pPr>
            <a:endParaRPr lang="en-US" sz="1800">
              <a:latin typeface="Courier New"/>
              <a:cs typeface="Courier New"/>
            </a:endParaRPr>
          </a:p>
          <a:p>
            <a:pPr marL="520065" indent="-507365">
              <a:lnSpc>
                <a:spcPct val="100000"/>
              </a:lnSpc>
              <a:spcBef>
                <a:spcPts val="5"/>
              </a:spcBef>
              <a:tabLst>
                <a:tab pos="520065" algn="l"/>
              </a:tabLst>
            </a:pPr>
            <a:r>
              <a:rPr lang="en-US" sz="1800" spc="-80">
                <a:latin typeface="Arial MT"/>
                <a:cs typeface="Arial MT"/>
              </a:rPr>
              <a:t>Use</a:t>
            </a:r>
            <a:r>
              <a:rPr lang="en-US" sz="1800" spc="-185">
                <a:latin typeface="Arial MT"/>
                <a:cs typeface="Arial MT"/>
              </a:rPr>
              <a:t> </a:t>
            </a:r>
            <a:r>
              <a:rPr lang="en-US" sz="1800" spc="-50">
                <a:latin typeface="Arial MT"/>
                <a:cs typeface="Arial MT"/>
              </a:rPr>
              <a:t>DOM</a:t>
            </a:r>
            <a:r>
              <a:rPr lang="en-US" sz="1800" spc="-200">
                <a:latin typeface="Arial MT"/>
                <a:cs typeface="Arial MT"/>
              </a:rPr>
              <a:t> </a:t>
            </a:r>
            <a:r>
              <a:rPr lang="en-US" sz="1800">
                <a:latin typeface="Arial MT"/>
                <a:cs typeface="Arial MT"/>
              </a:rPr>
              <a:t>lookup</a:t>
            </a:r>
            <a:r>
              <a:rPr lang="en-US" sz="1800" spc="-190">
                <a:latin typeface="Arial MT"/>
                <a:cs typeface="Arial MT"/>
              </a:rPr>
              <a:t> </a:t>
            </a:r>
            <a:r>
              <a:rPr lang="en-US" sz="1800">
                <a:latin typeface="Arial MT"/>
                <a:cs typeface="Arial MT"/>
              </a:rPr>
              <a:t>method.</a:t>
            </a:r>
            <a:r>
              <a:rPr lang="en-US" sz="1800" spc="-190">
                <a:latin typeface="Arial MT"/>
                <a:cs typeface="Arial MT"/>
              </a:rPr>
              <a:t> </a:t>
            </a:r>
            <a:r>
              <a:rPr lang="en-US" sz="1800">
                <a:latin typeface="Arial MT"/>
                <a:cs typeface="Arial MT"/>
              </a:rPr>
              <a:t>An</a:t>
            </a:r>
            <a:r>
              <a:rPr lang="en-US" sz="1800" spc="-190">
                <a:latin typeface="Arial MT"/>
                <a:cs typeface="Arial MT"/>
              </a:rPr>
              <a:t> </a:t>
            </a:r>
            <a:r>
              <a:rPr lang="en-US" sz="1800" spc="-60">
                <a:latin typeface="Arial MT"/>
                <a:cs typeface="Arial MT"/>
              </a:rPr>
              <a:t>example</a:t>
            </a:r>
            <a:r>
              <a:rPr lang="en-US" sz="1800" spc="-190">
                <a:latin typeface="Arial MT"/>
                <a:cs typeface="Arial MT"/>
              </a:rPr>
              <a:t> </a:t>
            </a:r>
            <a:r>
              <a:rPr lang="en-US" sz="1800" spc="-30">
                <a:latin typeface="Arial MT"/>
                <a:cs typeface="Arial MT"/>
              </a:rPr>
              <a:t>using</a:t>
            </a:r>
            <a:r>
              <a:rPr lang="en-US" sz="1800" spc="-190">
                <a:latin typeface="Arial MT"/>
                <a:cs typeface="Arial MT"/>
              </a:rPr>
              <a:t> </a:t>
            </a:r>
            <a:r>
              <a:rPr lang="en-US" sz="1800" spc="-20">
                <a:latin typeface="Arial MT"/>
                <a:cs typeface="Arial MT"/>
              </a:rPr>
              <a:t>ids:</a:t>
            </a:r>
            <a:endParaRPr lang="en-US" sz="1800">
              <a:latin typeface="Arial MT"/>
              <a:cs typeface="Arial MT"/>
            </a:endParaRPr>
          </a:p>
          <a:p>
            <a:pPr marL="457200" lvl="1" indent="0">
              <a:lnSpc>
                <a:spcPct val="100000"/>
              </a:lnSpc>
              <a:spcBef>
                <a:spcPts val="1390"/>
              </a:spcBef>
              <a:buNone/>
              <a:tabLst>
                <a:tab pos="837565" algn="l"/>
                <a:tab pos="2362200" algn="l"/>
                <a:tab pos="2743200" algn="l"/>
              </a:tabLst>
            </a:pPr>
            <a:r>
              <a:rPr lang="en-US" sz="1800" spc="-10">
                <a:latin typeface="Courier New"/>
                <a:cs typeface="Courier New"/>
              </a:rPr>
              <a:t>element</a:t>
            </a:r>
            <a:r>
              <a:rPr lang="en-US" sz="1800">
                <a:latin typeface="Courier New"/>
                <a:cs typeface="Courier New"/>
              </a:rPr>
              <a:t>	</a:t>
            </a:r>
            <a:r>
              <a:rPr lang="en-US" sz="1800" spc="-50">
                <a:latin typeface="Courier New"/>
                <a:cs typeface="Courier New"/>
              </a:rPr>
              <a:t>=</a:t>
            </a:r>
            <a:r>
              <a:rPr lang="en-US" sz="1800">
                <a:latin typeface="Courier New"/>
                <a:cs typeface="Courier New"/>
              </a:rPr>
              <a:t>	</a:t>
            </a:r>
            <a:r>
              <a:rPr lang="en-US" sz="1800" spc="-10" err="1">
                <a:latin typeface="Courier New"/>
                <a:cs typeface="Courier New"/>
              </a:rPr>
              <a:t>document.getElementById</a:t>
            </a:r>
            <a:r>
              <a:rPr lang="en-US" sz="1800" spc="-10">
                <a:latin typeface="Courier New"/>
                <a:cs typeface="Courier New"/>
              </a:rPr>
              <a:t>(“div1");</a:t>
            </a:r>
            <a:endParaRPr lang="en-US" sz="1800">
              <a:latin typeface="Courier New"/>
              <a:cs typeface="Courier New"/>
            </a:endParaRPr>
          </a:p>
          <a:p>
            <a:pPr marL="520700" marR="4102735" indent="-508000">
              <a:lnSpc>
                <a:spcPct val="130400"/>
              </a:lnSpc>
              <a:tabLst>
                <a:tab pos="520700" algn="l"/>
              </a:tabLst>
            </a:pPr>
            <a:r>
              <a:rPr lang="en-US" sz="1800" spc="-40">
                <a:latin typeface="Arial MT"/>
                <a:cs typeface="Arial MT"/>
              </a:rPr>
              <a:t>Many:</a:t>
            </a:r>
            <a:r>
              <a:rPr lang="en-US" sz="1800" spc="-215">
                <a:latin typeface="Arial MT"/>
                <a:cs typeface="Arial MT"/>
              </a:rPr>
              <a:t> </a:t>
            </a:r>
            <a:r>
              <a:rPr lang="en-US" sz="1800" spc="-110" err="1">
                <a:latin typeface="Arial MT"/>
                <a:cs typeface="Arial MT"/>
              </a:rPr>
              <a:t>getElementsByClassName</a:t>
            </a:r>
            <a:r>
              <a:rPr lang="en-US" sz="1800" spc="-110">
                <a:latin typeface="Arial MT"/>
                <a:cs typeface="Arial MT"/>
              </a:rPr>
              <a:t>(), </a:t>
            </a:r>
            <a:r>
              <a:rPr lang="en-US" sz="1800" spc="-125" err="1">
                <a:latin typeface="Arial MT"/>
                <a:cs typeface="Arial MT"/>
              </a:rPr>
              <a:t>getElementsByTagName</a:t>
            </a:r>
            <a:r>
              <a:rPr lang="en-US" sz="1800" spc="-125">
                <a:latin typeface="Arial MT"/>
                <a:cs typeface="Arial MT"/>
              </a:rPr>
              <a:t>(),</a:t>
            </a:r>
            <a:r>
              <a:rPr lang="en-US" sz="1800" spc="-65">
                <a:latin typeface="Arial MT"/>
                <a:cs typeface="Arial MT"/>
              </a:rPr>
              <a:t> </a:t>
            </a:r>
            <a:r>
              <a:rPr lang="en-US" sz="1800" spc="-50">
                <a:latin typeface="Arial MT"/>
                <a:cs typeface="Arial MT"/>
              </a:rPr>
              <a:t>…</a:t>
            </a:r>
            <a:endParaRPr lang="en-US" sz="1800">
              <a:latin typeface="Arial MT"/>
              <a:cs typeface="Arial MT"/>
            </a:endParaRPr>
          </a:p>
          <a:p>
            <a:pPr marL="457200" lvl="1" indent="0">
              <a:lnSpc>
                <a:spcPct val="100000"/>
              </a:lnSpc>
              <a:spcBef>
                <a:spcPts val="1390"/>
              </a:spcBef>
              <a:buNone/>
              <a:tabLst>
                <a:tab pos="837565" algn="l"/>
              </a:tabLst>
            </a:pPr>
            <a:r>
              <a:rPr lang="en-US" sz="1800" spc="-10" err="1">
                <a:latin typeface="Courier New"/>
                <a:cs typeface="Courier New"/>
              </a:rPr>
              <a:t>document.body.firstChild.getElementsByTagName</a:t>
            </a:r>
            <a:r>
              <a:rPr lang="en-US" sz="1800" spc="-10">
                <a:latin typeface="Courier New"/>
                <a:cs typeface="Courier New"/>
              </a:rPr>
              <a:t>()</a:t>
            </a:r>
            <a:endParaRPr lang="en-US" sz="1800">
              <a:latin typeface="Courier New"/>
              <a:cs typeface="Courier New"/>
            </a:endParaRPr>
          </a:p>
          <a:p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1004416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F984F-5F0B-49D8-93F5-A6CD8B044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65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en-US" spc="-22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65">
                <a:latin typeface="Calibri" panose="020F0502020204030204" pitchFamily="34" charset="0"/>
                <a:cs typeface="Calibri" panose="020F0502020204030204" pitchFamily="34" charset="0"/>
              </a:rPr>
              <a:t>commonly</a:t>
            </a:r>
            <a:r>
              <a:rPr lang="en-US" spc="-21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75"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lang="en-US" spc="-28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95">
                <a:latin typeface="Calibri" panose="020F0502020204030204" pitchFamily="34" charset="0"/>
                <a:cs typeface="Calibri" panose="020F0502020204030204" pitchFamily="34" charset="0"/>
              </a:rPr>
              <a:t>Node</a:t>
            </a:r>
            <a:r>
              <a:rPr lang="en-US" spc="-23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25">
                <a:latin typeface="Calibri" panose="020F0502020204030204" pitchFamily="34" charset="0"/>
                <a:cs typeface="Calibri" panose="020F0502020204030204" pitchFamily="34" charset="0"/>
              </a:rPr>
              <a:t>properties</a:t>
            </a:r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30BCAA-53F3-FEC9-0EDC-BCF5BEA19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9430" indent="-506730">
              <a:lnSpc>
                <a:spcPct val="100000"/>
              </a:lnSpc>
              <a:spcBef>
                <a:spcPts val="1520"/>
              </a:spcBef>
              <a:tabLst>
                <a:tab pos="519430" algn="l"/>
              </a:tabLst>
            </a:pPr>
            <a:r>
              <a:rPr lang="en-US" spc="-10" err="1">
                <a:latin typeface="Courier New"/>
                <a:cs typeface="Courier New"/>
              </a:rPr>
              <a:t>textContent</a:t>
            </a:r>
            <a:endParaRPr lang="en-US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spcBef>
                <a:spcPts val="1420"/>
              </a:spcBef>
              <a:tabLst>
                <a:tab pos="519430" algn="l"/>
              </a:tabLst>
            </a:pPr>
            <a:r>
              <a:rPr lang="en-US" spc="-10" err="1">
                <a:latin typeface="Courier New"/>
                <a:cs typeface="Courier New"/>
              </a:rPr>
              <a:t>innerHTML</a:t>
            </a:r>
            <a:endParaRPr lang="en-US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spcBef>
                <a:spcPts val="1420"/>
              </a:spcBef>
              <a:tabLst>
                <a:tab pos="519430" algn="l"/>
                <a:tab pos="4864735" algn="l"/>
                <a:tab pos="5443855" algn="l"/>
              </a:tabLst>
            </a:pPr>
            <a:r>
              <a:rPr lang="en-US" spc="-10" err="1">
                <a:latin typeface="Courier New"/>
                <a:cs typeface="Courier New"/>
              </a:rPr>
              <a:t>getAttribute</a:t>
            </a:r>
            <a:r>
              <a:rPr lang="en-US" spc="-10">
                <a:latin typeface="Courier New"/>
                <a:cs typeface="Courier New"/>
              </a:rPr>
              <a:t>()</a:t>
            </a:r>
            <a:r>
              <a:rPr lang="en-US" spc="-50">
                <a:latin typeface="Courier New"/>
                <a:cs typeface="Courier New"/>
              </a:rPr>
              <a:t>/</a:t>
            </a:r>
            <a:r>
              <a:rPr lang="en-US" spc="-10" err="1">
                <a:latin typeface="Courier New"/>
                <a:cs typeface="Courier New"/>
              </a:rPr>
              <a:t>setAttribute</a:t>
            </a:r>
            <a:r>
              <a:rPr lang="en-US" spc="-10">
                <a:latin typeface="Courier New"/>
                <a:cs typeface="Courier New"/>
              </a:rPr>
              <a:t>()</a:t>
            </a:r>
            <a:endParaRPr lang="en-US"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149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F7E9D-720F-CB0B-8784-E3CE19DD6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60">
                <a:latin typeface="Calibri" panose="020F0502020204030204" pitchFamily="34" charset="0"/>
                <a:cs typeface="Calibri" panose="020F0502020204030204" pitchFamily="34" charset="0"/>
              </a:rPr>
              <a:t>DOM</a:t>
            </a:r>
            <a:r>
              <a:rPr lang="en-US" spc="-12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85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pc="-24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0">
                <a:latin typeface="Calibri" panose="020F0502020204030204" pitchFamily="34" charset="0"/>
                <a:cs typeface="Calibri" panose="020F0502020204030204" pitchFamily="34" charset="0"/>
              </a:rPr>
              <a:t>CSS</a:t>
            </a:r>
            <a:r>
              <a:rPr lang="en-US" spc="-18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80">
                <a:latin typeface="Calibri" panose="020F0502020204030204" pitchFamily="34" charset="0"/>
                <a:cs typeface="Calibri" panose="020F0502020204030204" pitchFamily="34" charset="0"/>
              </a:rPr>
              <a:t>interactions</a:t>
            </a:r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BBA99B-112A-D367-EF08-0E19A4BC1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9430" indent="-506730">
              <a:lnSpc>
                <a:spcPct val="100000"/>
              </a:lnSpc>
              <a:spcBef>
                <a:spcPts val="100"/>
              </a:spcBef>
              <a:tabLst>
                <a:tab pos="519430" algn="l"/>
                <a:tab pos="5733415" algn="l"/>
                <a:tab pos="6312535" algn="l"/>
              </a:tabLst>
            </a:pPr>
            <a:r>
              <a:rPr lang="en-US" spc="-10" err="1">
                <a:latin typeface="Courier New"/>
                <a:cs typeface="Courier New"/>
              </a:rPr>
              <a:t>element.className</a:t>
            </a:r>
            <a:r>
              <a:rPr lang="en-US" spc="-50">
                <a:latin typeface="Courier New"/>
                <a:cs typeface="Courier New"/>
              </a:rPr>
              <a:t>=</a:t>
            </a:r>
            <a:r>
              <a:rPr lang="en-US" spc="-10">
                <a:latin typeface="Courier New"/>
                <a:cs typeface="Courier New"/>
              </a:rPr>
              <a:t>“active";</a:t>
            </a:r>
            <a:endParaRPr lang="en-US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Font typeface="Courier New"/>
              <a:buChar char="•"/>
            </a:pPr>
            <a:endParaRPr lang="en-US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tabLst>
                <a:tab pos="519430" algn="l"/>
                <a:tab pos="6312535" algn="l"/>
                <a:tab pos="6891655" algn="l"/>
              </a:tabLst>
            </a:pPr>
            <a:r>
              <a:rPr lang="en-US" spc="-10" err="1">
                <a:latin typeface="Courier New"/>
                <a:cs typeface="Courier New"/>
              </a:rPr>
              <a:t>element.style.color</a:t>
            </a:r>
            <a:r>
              <a:rPr lang="en-US" spc="-50">
                <a:latin typeface="Courier New"/>
                <a:cs typeface="Courier New"/>
              </a:rPr>
              <a:t>=</a:t>
            </a:r>
            <a:r>
              <a:rPr lang="en-US" spc="-10">
                <a:latin typeface="Courier New"/>
                <a:cs typeface="Courier New"/>
              </a:rPr>
              <a:t>“#ff0000";</a:t>
            </a:r>
            <a:endParaRPr lang="en-US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Font typeface="Courier New"/>
              <a:buChar char="•"/>
            </a:pPr>
            <a:endParaRPr lang="en-US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tabLst>
                <a:tab pos="519430" algn="l"/>
              </a:tabLst>
            </a:pPr>
            <a:r>
              <a:rPr lang="en-US" spc="-10" err="1">
                <a:latin typeface="Courier New"/>
                <a:cs typeface="Courier New"/>
              </a:rPr>
              <a:t>document.querySelector</a:t>
            </a:r>
            <a:r>
              <a:rPr lang="en-US" spc="-10">
                <a:latin typeface="Courier New"/>
                <a:cs typeface="Courier New"/>
              </a:rPr>
              <a:t>(“.class1”)</a:t>
            </a:r>
            <a:endParaRPr lang="en-US">
              <a:latin typeface="Courier New"/>
              <a:cs typeface="Courier New"/>
            </a:endParaRP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5804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F458E-2968-6986-B800-6A3FA58A3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65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en-US" spc="-9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260">
                <a:latin typeface="Calibri" panose="020F0502020204030204" pitchFamily="34" charset="0"/>
                <a:cs typeface="Calibri" panose="020F0502020204030204" pitchFamily="34" charset="0"/>
              </a:rPr>
              <a:t>DOM</a:t>
            </a:r>
            <a:r>
              <a:rPr lang="en-US" spc="-9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75">
                <a:latin typeface="Calibri" panose="020F0502020204030204" pitchFamily="34" charset="0"/>
                <a:cs typeface="Calibri" panose="020F0502020204030204" pitchFamily="34" charset="0"/>
              </a:rPr>
              <a:t>operations</a:t>
            </a:r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1AA8DD-F8A9-F14D-DD67-D1C9A5C7E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9430" indent="-506730">
              <a:lnSpc>
                <a:spcPct val="100000"/>
              </a:lnSpc>
              <a:spcBef>
                <a:spcPts val="100"/>
              </a:spcBef>
              <a:tabLst>
                <a:tab pos="519430" algn="l"/>
                <a:tab pos="6602095" algn="l"/>
                <a:tab pos="7181215" algn="l"/>
              </a:tabLst>
            </a:pPr>
            <a:r>
              <a:rPr lang="en-US" spc="-10" err="1">
                <a:latin typeface="Courier New"/>
                <a:cs typeface="Courier New"/>
              </a:rPr>
              <a:t>window.location.href</a:t>
            </a:r>
            <a:r>
              <a:rPr lang="en-US" spc="-50">
                <a:latin typeface="Courier New"/>
                <a:cs typeface="Courier New"/>
              </a:rPr>
              <a:t>=</a:t>
            </a:r>
            <a:r>
              <a:rPr lang="en-US" spc="-10">
                <a:latin typeface="Courier New"/>
                <a:cs typeface="Courier New"/>
              </a:rPr>
              <a:t>“newPage.html";</a:t>
            </a:r>
            <a:endParaRPr lang="en-US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tabLst>
                <a:tab pos="519430" algn="l"/>
                <a:tab pos="6602095" algn="l"/>
                <a:tab pos="8339455" algn="l"/>
              </a:tabLst>
            </a:pPr>
            <a:r>
              <a:rPr lang="en-US" spc="-10">
                <a:latin typeface="Courier New"/>
                <a:cs typeface="Courier New"/>
              </a:rPr>
              <a:t>console.log("Reached point </a:t>
            </a:r>
            <a:r>
              <a:rPr lang="en-US" spc="-20">
                <a:latin typeface="Courier New"/>
                <a:cs typeface="Courier New"/>
              </a:rPr>
              <a:t>A”);</a:t>
            </a:r>
            <a:endParaRPr lang="en-US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tabLst>
                <a:tab pos="519430" algn="l"/>
                <a:tab pos="4864735" algn="l"/>
              </a:tabLst>
            </a:pPr>
            <a:r>
              <a:rPr lang="en-US" spc="-10">
                <a:latin typeface="Courier New"/>
                <a:cs typeface="Courier New"/>
              </a:rPr>
              <a:t>alert("Wow!");confirm("OK?");</a:t>
            </a:r>
            <a:endParaRPr lang="en-US"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455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4A269-8602-8E34-ED13-7221BF30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 Handling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9540BB-BAB6-3698-0CF5-66E807408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What are Events?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User actions like clicks, typing, and mouse movements.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Adding Event Listeners:</a:t>
            </a:r>
          </a:p>
          <a:p>
            <a:pPr marL="0" indent="0">
              <a:buNone/>
            </a:pPr>
            <a:r>
              <a:rPr lang="en-US" i="1" err="1"/>
              <a:t>document.getElementById</a:t>
            </a:r>
            <a:r>
              <a:rPr lang="en-US" i="1"/>
              <a:t>("</a:t>
            </a:r>
            <a:r>
              <a:rPr lang="en-US" i="1" err="1"/>
              <a:t>myButton</a:t>
            </a:r>
            <a:r>
              <a:rPr lang="en-US" i="1"/>
              <a:t>").</a:t>
            </a:r>
            <a:r>
              <a:rPr lang="en-US" i="1" err="1"/>
              <a:t>addEventListener</a:t>
            </a:r>
            <a:r>
              <a:rPr lang="en-US" i="1"/>
              <a:t>("click", function() { alert("Button clicked!"); });</a:t>
            </a:r>
            <a:endParaRPr lang="ru-RU" i="1"/>
          </a:p>
        </p:txBody>
      </p:sp>
    </p:spTree>
    <p:extLst>
      <p:ext uri="{BB962C8B-B14F-4D97-AF65-F5344CB8AC3E}">
        <p14:creationId xmlns:p14="http://schemas.microsoft.com/office/powerpoint/2010/main" val="3155654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36A5A4-0C7C-CDB8-FF78-E695A27FB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10">
                <a:latin typeface="Calibri" panose="020F0502020204030204" pitchFamily="34" charset="0"/>
                <a:cs typeface="Calibri" panose="020F0502020204030204" pitchFamily="34" charset="0"/>
              </a:rPr>
              <a:t>JavaScript </a:t>
            </a:r>
            <a:r>
              <a:rPr lang="en-US" spc="-10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pc="-254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50">
                <a:latin typeface="Calibri" panose="020F0502020204030204" pitchFamily="34" charset="0"/>
                <a:cs typeface="Calibri" panose="020F0502020204030204" pitchFamily="34" charset="0"/>
              </a:rPr>
              <a:t>DOM</a:t>
            </a:r>
            <a:r>
              <a:rPr lang="en-US" spc="-229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320">
                <a:latin typeface="Calibri" panose="020F0502020204030204" pitchFamily="34" charset="0"/>
                <a:cs typeface="Calibri" panose="020F0502020204030204" pitchFamily="34" charset="0"/>
              </a:rPr>
              <a:t>Events</a:t>
            </a:r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3884BF-44EC-E709-C44C-A5D4B6C5B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0700" marR="5080" indent="-508000">
              <a:lnSpc>
                <a:spcPct val="100000"/>
              </a:lnSpc>
              <a:spcBef>
                <a:spcPts val="100"/>
              </a:spcBef>
              <a:tabLst>
                <a:tab pos="520700" algn="l"/>
              </a:tabLst>
            </a:pPr>
            <a:r>
              <a:rPr lang="en-US" spc="-45">
                <a:latin typeface="Arial MT"/>
                <a:cs typeface="Arial MT"/>
              </a:rPr>
              <a:t>Mouse-</a:t>
            </a:r>
            <a:r>
              <a:rPr lang="en-US" spc="-40">
                <a:latin typeface="Arial MT"/>
                <a:cs typeface="Arial MT"/>
              </a:rPr>
              <a:t>related:</a:t>
            </a:r>
            <a:r>
              <a:rPr lang="en-US" spc="-140">
                <a:latin typeface="Arial MT"/>
                <a:cs typeface="Arial MT"/>
              </a:rPr>
              <a:t> </a:t>
            </a:r>
            <a:r>
              <a:rPr lang="en-US" spc="-20">
                <a:latin typeface="Arial MT"/>
                <a:cs typeface="Arial MT"/>
              </a:rPr>
              <a:t>mouse</a:t>
            </a:r>
            <a:r>
              <a:rPr lang="en-US" spc="-135">
                <a:latin typeface="Arial MT"/>
                <a:cs typeface="Arial MT"/>
              </a:rPr>
              <a:t> </a:t>
            </a:r>
            <a:r>
              <a:rPr lang="en-US" spc="-40">
                <a:latin typeface="Arial MT"/>
                <a:cs typeface="Arial MT"/>
              </a:rPr>
              <a:t>movement,</a:t>
            </a:r>
            <a:r>
              <a:rPr lang="en-US" spc="-13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button</a:t>
            </a:r>
            <a:r>
              <a:rPr lang="en-US" spc="-140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click,</a:t>
            </a:r>
            <a:r>
              <a:rPr lang="en-US" spc="-135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enter/ </a:t>
            </a:r>
            <a:r>
              <a:rPr lang="en-US" spc="-110">
                <a:latin typeface="Arial MT"/>
                <a:cs typeface="Arial MT"/>
              </a:rPr>
              <a:t>leave</a:t>
            </a:r>
            <a:r>
              <a:rPr lang="en-US" spc="-120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element</a:t>
            </a:r>
            <a:endParaRPr lang="en-US">
              <a:latin typeface="Arial MT"/>
              <a:cs typeface="Arial MT"/>
            </a:endParaRPr>
          </a:p>
          <a:p>
            <a:pPr marL="520065" indent="-507365">
              <a:lnSpc>
                <a:spcPct val="100000"/>
              </a:lnSpc>
              <a:tabLst>
                <a:tab pos="520065" algn="l"/>
              </a:tabLst>
            </a:pPr>
            <a:r>
              <a:rPr lang="en-US" spc="-60">
                <a:latin typeface="Arial MT"/>
                <a:cs typeface="Arial MT"/>
              </a:rPr>
              <a:t>Keyboard-</a:t>
            </a:r>
            <a:r>
              <a:rPr lang="en-US" spc="-35">
                <a:latin typeface="Arial MT"/>
                <a:cs typeface="Arial MT"/>
              </a:rPr>
              <a:t>related:</a:t>
            </a:r>
            <a:r>
              <a:rPr lang="en-US" spc="-60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down,</a:t>
            </a:r>
            <a:r>
              <a:rPr lang="en-US" spc="-60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up,</a:t>
            </a:r>
            <a:r>
              <a:rPr lang="en-US" spc="-55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press</a:t>
            </a:r>
            <a:endParaRPr lang="en-US">
              <a:latin typeface="Arial MT"/>
              <a:cs typeface="Arial MT"/>
            </a:endParaRPr>
          </a:p>
          <a:p>
            <a:pPr marL="520065" indent="-507365">
              <a:lnSpc>
                <a:spcPct val="100000"/>
              </a:lnSpc>
              <a:tabLst>
                <a:tab pos="520065" algn="l"/>
              </a:tabLst>
            </a:pPr>
            <a:r>
              <a:rPr lang="en-US" spc="-60">
                <a:latin typeface="Arial MT"/>
                <a:cs typeface="Arial MT"/>
              </a:rPr>
              <a:t>Focus-</a:t>
            </a:r>
            <a:r>
              <a:rPr lang="en-US" spc="-40">
                <a:latin typeface="Arial MT"/>
                <a:cs typeface="Arial MT"/>
              </a:rPr>
              <a:t>related:</a:t>
            </a:r>
            <a:r>
              <a:rPr lang="en-US" spc="-15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focus</a:t>
            </a:r>
            <a:r>
              <a:rPr lang="en-US" spc="-15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in,</a:t>
            </a:r>
            <a:r>
              <a:rPr lang="en-US" spc="-15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focus</a:t>
            </a:r>
            <a:r>
              <a:rPr lang="en-US" spc="-150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out</a:t>
            </a:r>
            <a:r>
              <a:rPr lang="en-US" spc="-155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(blur)</a:t>
            </a:r>
            <a:endParaRPr lang="en-US">
              <a:latin typeface="Arial MT"/>
              <a:cs typeface="Arial MT"/>
            </a:endParaRPr>
          </a:p>
          <a:p>
            <a:pPr marL="520065" indent="-507365">
              <a:lnSpc>
                <a:spcPct val="100000"/>
              </a:lnSpc>
              <a:tabLst>
                <a:tab pos="520065" algn="l"/>
              </a:tabLst>
            </a:pPr>
            <a:r>
              <a:rPr lang="en-US">
                <a:latin typeface="Arial MT"/>
                <a:cs typeface="Arial MT"/>
              </a:rPr>
              <a:t>Input</a:t>
            </a:r>
            <a:r>
              <a:rPr lang="en-US" spc="-229">
                <a:latin typeface="Arial MT"/>
                <a:cs typeface="Arial MT"/>
              </a:rPr>
              <a:t> </a:t>
            </a:r>
            <a:r>
              <a:rPr lang="en-US" spc="-50">
                <a:latin typeface="Arial MT"/>
                <a:cs typeface="Arial MT"/>
              </a:rPr>
              <a:t>field</a:t>
            </a:r>
            <a:r>
              <a:rPr lang="en-US" spc="-195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changed,</a:t>
            </a:r>
            <a:r>
              <a:rPr lang="en-US" spc="-210">
                <a:latin typeface="Arial MT"/>
                <a:cs typeface="Arial MT"/>
              </a:rPr>
              <a:t> </a:t>
            </a:r>
            <a:r>
              <a:rPr lang="en-US" spc="-30">
                <a:latin typeface="Arial MT"/>
                <a:cs typeface="Arial MT"/>
              </a:rPr>
              <a:t>Form</a:t>
            </a:r>
            <a:r>
              <a:rPr lang="en-US" spc="-210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submitted</a:t>
            </a:r>
            <a:endParaRPr lang="en-US">
              <a:latin typeface="Arial MT"/>
              <a:cs typeface="Arial MT"/>
            </a:endParaRP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48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D0E52C-4D10-666B-F491-55C014616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325">
                <a:latin typeface="Calibri" panose="020F0502020204030204" pitchFamily="34" charset="0"/>
                <a:cs typeface="Calibri" panose="020F0502020204030204" pitchFamily="34" charset="0"/>
              </a:rPr>
              <a:t>Event</a:t>
            </a:r>
            <a:r>
              <a:rPr lang="en-US" spc="1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220">
                <a:latin typeface="Calibri" panose="020F0502020204030204" pitchFamily="34" charset="0"/>
                <a:cs typeface="Calibri" panose="020F0502020204030204" pitchFamily="34" charset="0"/>
              </a:rPr>
              <a:t>handling</a:t>
            </a:r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B61AF2-3187-E5BF-F9E1-E50BBEEF4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9920" indent="-61722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629920" algn="l"/>
              </a:tabLst>
            </a:pPr>
            <a:r>
              <a:rPr lang="en-US" spc="-30">
                <a:latin typeface="Arial MT"/>
                <a:cs typeface="Arial MT"/>
              </a:rPr>
              <a:t>What</a:t>
            </a:r>
            <a:r>
              <a:rPr lang="en-US" spc="-160">
                <a:latin typeface="Arial MT"/>
                <a:cs typeface="Arial MT"/>
              </a:rPr>
              <a:t> </a:t>
            </a:r>
            <a:r>
              <a:rPr lang="en-US" spc="-35">
                <a:latin typeface="Arial MT"/>
                <a:cs typeface="Arial MT"/>
              </a:rPr>
              <a:t>happened:</a:t>
            </a:r>
            <a:r>
              <a:rPr lang="en-US" spc="-15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the</a:t>
            </a:r>
            <a:r>
              <a:rPr lang="en-US" spc="-155">
                <a:latin typeface="Arial MT"/>
                <a:cs typeface="Arial MT"/>
              </a:rPr>
              <a:t> </a:t>
            </a:r>
            <a:r>
              <a:rPr lang="en-US" spc="-55">
                <a:latin typeface="Arial MT"/>
                <a:cs typeface="Arial MT"/>
              </a:rPr>
              <a:t>event</a:t>
            </a:r>
            <a:r>
              <a:rPr lang="en-US" spc="-15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of</a:t>
            </a:r>
            <a:r>
              <a:rPr lang="en-US" spc="-155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interest</a:t>
            </a:r>
            <a:endParaRPr lang="en-US">
              <a:latin typeface="Arial MT"/>
              <a:cs typeface="Arial MT"/>
            </a:endParaRPr>
          </a:p>
          <a:p>
            <a:pPr marL="629920" indent="-617220">
              <a:lnSpc>
                <a:spcPct val="100000"/>
              </a:lnSpc>
              <a:spcBef>
                <a:spcPts val="2865"/>
              </a:spcBef>
              <a:buAutoNum type="arabicPeriod"/>
              <a:tabLst>
                <a:tab pos="629920" algn="l"/>
              </a:tabLst>
            </a:pPr>
            <a:r>
              <a:rPr lang="en-US" spc="-100">
                <a:latin typeface="Arial MT"/>
                <a:cs typeface="Arial MT"/>
              </a:rPr>
              <a:t>Where</a:t>
            </a:r>
            <a:r>
              <a:rPr lang="en-US" spc="-140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it</a:t>
            </a:r>
            <a:r>
              <a:rPr lang="en-US" spc="-140">
                <a:latin typeface="Arial MT"/>
                <a:cs typeface="Arial MT"/>
              </a:rPr>
              <a:t> </a:t>
            </a:r>
            <a:r>
              <a:rPr lang="en-US" spc="-35">
                <a:latin typeface="Arial MT"/>
                <a:cs typeface="Arial MT"/>
              </a:rPr>
              <a:t>happened:</a:t>
            </a:r>
            <a:r>
              <a:rPr lang="en-US" spc="-13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an</a:t>
            </a:r>
            <a:r>
              <a:rPr lang="en-US" spc="-140">
                <a:latin typeface="Arial MT"/>
                <a:cs typeface="Arial MT"/>
              </a:rPr>
              <a:t> </a:t>
            </a:r>
            <a:r>
              <a:rPr lang="en-US" spc="-70">
                <a:latin typeface="Arial MT"/>
                <a:cs typeface="Arial MT"/>
              </a:rPr>
              <a:t>element</a:t>
            </a:r>
            <a:r>
              <a:rPr lang="en-US" spc="-13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of</a:t>
            </a:r>
            <a:r>
              <a:rPr lang="en-US" spc="-140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interest.</a:t>
            </a:r>
            <a:endParaRPr lang="en-US">
              <a:latin typeface="Arial MT"/>
              <a:cs typeface="Arial MT"/>
            </a:endParaRPr>
          </a:p>
          <a:p>
            <a:pPr marL="629920" marR="5080" indent="-617855">
              <a:lnSpc>
                <a:spcPct val="168300"/>
              </a:lnSpc>
              <a:spcBef>
                <a:spcPts val="5"/>
              </a:spcBef>
              <a:buAutoNum type="arabicPeriod"/>
              <a:tabLst>
                <a:tab pos="629920" algn="l"/>
              </a:tabLst>
            </a:pPr>
            <a:r>
              <a:rPr lang="en-US" spc="-30">
                <a:latin typeface="Arial MT"/>
                <a:cs typeface="Arial MT"/>
              </a:rPr>
              <a:t>What</a:t>
            </a:r>
            <a:r>
              <a:rPr lang="en-US" spc="-10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to</a:t>
            </a:r>
            <a:r>
              <a:rPr lang="en-US" spc="-100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do:</a:t>
            </a:r>
            <a:r>
              <a:rPr lang="en-US" spc="-100">
                <a:latin typeface="Arial MT"/>
                <a:cs typeface="Arial MT"/>
              </a:rPr>
              <a:t> </a:t>
            </a:r>
            <a:r>
              <a:rPr lang="en-US" spc="-50">
                <a:latin typeface="Arial MT"/>
                <a:cs typeface="Arial MT"/>
              </a:rPr>
              <a:t>JavaScript</a:t>
            </a:r>
            <a:r>
              <a:rPr lang="en-US" spc="-100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to</a:t>
            </a:r>
            <a:r>
              <a:rPr lang="en-US" spc="-105">
                <a:latin typeface="Arial MT"/>
                <a:cs typeface="Arial MT"/>
              </a:rPr>
              <a:t> </a:t>
            </a:r>
            <a:r>
              <a:rPr lang="en-US" spc="-60">
                <a:latin typeface="Arial MT"/>
                <a:cs typeface="Arial MT"/>
              </a:rPr>
              <a:t>invoke</a:t>
            </a:r>
            <a:r>
              <a:rPr lang="en-US" spc="-100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when</a:t>
            </a:r>
            <a:r>
              <a:rPr lang="en-US" spc="-100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the</a:t>
            </a:r>
            <a:r>
              <a:rPr lang="en-US" spc="-100">
                <a:latin typeface="Arial MT"/>
                <a:cs typeface="Arial MT"/>
              </a:rPr>
              <a:t> </a:t>
            </a:r>
            <a:r>
              <a:rPr lang="en-US" spc="-55">
                <a:latin typeface="Arial MT"/>
                <a:cs typeface="Arial MT"/>
              </a:rPr>
              <a:t>event</a:t>
            </a:r>
            <a:r>
              <a:rPr lang="en-US" spc="-105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occurs </a:t>
            </a:r>
            <a:r>
              <a:rPr lang="en-US">
                <a:latin typeface="Arial MT"/>
                <a:cs typeface="Arial MT"/>
              </a:rPr>
              <a:t>on</a:t>
            </a:r>
            <a:r>
              <a:rPr lang="en-US" spc="-114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the</a:t>
            </a:r>
            <a:r>
              <a:rPr lang="en-US" spc="-110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element.</a:t>
            </a:r>
            <a:endParaRPr lang="en-US">
              <a:latin typeface="Arial MT"/>
              <a:cs typeface="Arial MT"/>
            </a:endParaRP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380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851843-ACA0-D30D-88AC-CDD8BE93F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45">
                <a:latin typeface="Calibri" panose="020F0502020204030204" pitchFamily="34" charset="0"/>
                <a:cs typeface="Calibri" panose="020F0502020204030204" pitchFamily="34" charset="0"/>
              </a:rPr>
              <a:t>Specifying</a:t>
            </a:r>
            <a:r>
              <a:rPr lang="en-US" spc="-204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7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pc="-26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75">
                <a:latin typeface="Calibri" panose="020F0502020204030204" pitchFamily="34" charset="0"/>
                <a:cs typeface="Calibri" panose="020F0502020204030204" pitchFamily="34" charset="0"/>
              </a:rPr>
              <a:t>JavaScript</a:t>
            </a:r>
            <a:r>
              <a:rPr lang="en-US" spc="-17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pc="-204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60"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lang="en-US" spc="-19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285">
                <a:latin typeface="Calibri" panose="020F0502020204030204" pitchFamily="34" charset="0"/>
                <a:cs typeface="Calibri" panose="020F0502020204030204" pitchFamily="34" charset="0"/>
              </a:rPr>
              <a:t>Event</a:t>
            </a:r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DEAEE-76EF-2C00-E225-10E280B37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20065" indent="-507365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lang="en-US" sz="2400" spc="-20">
                <a:latin typeface="Arial MT"/>
                <a:cs typeface="Arial MT"/>
              </a:rPr>
              <a:t>Option</a:t>
            </a:r>
            <a:r>
              <a:rPr lang="en-US" sz="2400" spc="-155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#1:</a:t>
            </a:r>
            <a:r>
              <a:rPr lang="en-US" sz="2400" spc="-150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in</a:t>
            </a:r>
            <a:r>
              <a:rPr lang="en-US" sz="2400" spc="-150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the</a:t>
            </a:r>
            <a:r>
              <a:rPr lang="en-US" sz="2400" spc="-150">
                <a:latin typeface="Arial MT"/>
                <a:cs typeface="Arial MT"/>
              </a:rPr>
              <a:t> </a:t>
            </a:r>
            <a:r>
              <a:rPr lang="en-US" sz="2400" spc="-10">
                <a:latin typeface="Arial MT"/>
                <a:cs typeface="Arial MT"/>
              </a:rPr>
              <a:t>HTML:</a:t>
            </a:r>
            <a:endParaRPr lang="en-US" sz="2400">
              <a:latin typeface="Arial MT"/>
              <a:cs typeface="Arial MT"/>
            </a:endParaRPr>
          </a:p>
          <a:p>
            <a:pPr marL="1282065" lvl="1" indent="-380365">
              <a:lnSpc>
                <a:spcPct val="100000"/>
              </a:lnSpc>
              <a:spcBef>
                <a:spcPts val="2900"/>
              </a:spcBef>
              <a:tabLst>
                <a:tab pos="1282065" algn="l"/>
                <a:tab pos="2235200" algn="l"/>
              </a:tabLst>
            </a:pPr>
            <a:r>
              <a:rPr lang="en-US" spc="-20">
                <a:latin typeface="Courier New"/>
                <a:cs typeface="Courier New"/>
              </a:rPr>
              <a:t>&lt;div</a:t>
            </a:r>
            <a:r>
              <a:rPr lang="en-US">
                <a:latin typeface="Courier New"/>
                <a:cs typeface="Courier New"/>
              </a:rPr>
              <a:t>	</a:t>
            </a:r>
            <a:r>
              <a:rPr lang="en-US" spc="-10">
                <a:latin typeface="Courier New"/>
                <a:cs typeface="Courier New"/>
              </a:rPr>
              <a:t>onclick=“</a:t>
            </a:r>
            <a:r>
              <a:rPr lang="en-US" spc="-10" err="1">
                <a:latin typeface="Courier New"/>
                <a:cs typeface="Courier New"/>
              </a:rPr>
              <a:t>divClicked</a:t>
            </a:r>
            <a:r>
              <a:rPr lang="en-US" spc="-10">
                <a:latin typeface="Courier New"/>
                <a:cs typeface="Courier New"/>
              </a:rPr>
              <a:t>();”&gt;…&lt;/div&gt;</a:t>
            </a:r>
            <a:endParaRPr lang="en-US">
              <a:latin typeface="Courier New"/>
              <a:cs typeface="Courier New"/>
            </a:endParaRPr>
          </a:p>
          <a:p>
            <a:pPr marL="520065" indent="-507365">
              <a:lnSpc>
                <a:spcPct val="100000"/>
              </a:lnSpc>
              <a:spcBef>
                <a:spcPts val="2065"/>
              </a:spcBef>
              <a:tabLst>
                <a:tab pos="520065" algn="l"/>
              </a:tabLst>
            </a:pPr>
            <a:r>
              <a:rPr lang="en-US" sz="2400" spc="-20">
                <a:latin typeface="Arial MT"/>
                <a:cs typeface="Arial MT"/>
              </a:rPr>
              <a:t>Option</a:t>
            </a:r>
            <a:r>
              <a:rPr lang="en-US" sz="2400" spc="-165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#2:</a:t>
            </a:r>
            <a:r>
              <a:rPr lang="en-US" sz="2400" spc="-160">
                <a:latin typeface="Arial MT"/>
                <a:cs typeface="Arial MT"/>
              </a:rPr>
              <a:t> </a:t>
            </a:r>
            <a:r>
              <a:rPr lang="en-US" sz="2400" spc="-10">
                <a:latin typeface="Arial MT"/>
                <a:cs typeface="Arial MT"/>
              </a:rPr>
              <a:t>from</a:t>
            </a:r>
            <a:r>
              <a:rPr lang="en-US" sz="2400" spc="-165">
                <a:latin typeface="Arial MT"/>
                <a:cs typeface="Arial MT"/>
              </a:rPr>
              <a:t> </a:t>
            </a:r>
            <a:r>
              <a:rPr lang="en-US" sz="2400" spc="-30" err="1">
                <a:latin typeface="Arial MT"/>
                <a:cs typeface="Arial MT"/>
              </a:rPr>
              <a:t>Javascript</a:t>
            </a:r>
            <a:r>
              <a:rPr lang="en-US" sz="2400" spc="-160">
                <a:latin typeface="Arial MT"/>
                <a:cs typeface="Arial MT"/>
              </a:rPr>
              <a:t> </a:t>
            </a:r>
            <a:r>
              <a:rPr lang="en-US" sz="2400" spc="-45">
                <a:latin typeface="Arial MT"/>
                <a:cs typeface="Arial MT"/>
              </a:rPr>
              <a:t>using</a:t>
            </a:r>
            <a:r>
              <a:rPr lang="en-US" sz="2400" spc="-165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the</a:t>
            </a:r>
            <a:r>
              <a:rPr lang="en-US" sz="2400" spc="-160">
                <a:latin typeface="Arial MT"/>
                <a:cs typeface="Arial MT"/>
              </a:rPr>
              <a:t> </a:t>
            </a:r>
            <a:r>
              <a:rPr lang="en-US" sz="2400" spc="-20">
                <a:latin typeface="Arial MT"/>
                <a:cs typeface="Arial MT"/>
              </a:rPr>
              <a:t>DOM:</a:t>
            </a:r>
            <a:endParaRPr lang="en-US" sz="2400">
              <a:latin typeface="Arial MT"/>
              <a:cs typeface="Arial MT"/>
            </a:endParaRPr>
          </a:p>
          <a:p>
            <a:pPr marL="1282065" lvl="1" indent="-380365">
              <a:lnSpc>
                <a:spcPct val="100000"/>
              </a:lnSpc>
              <a:spcBef>
                <a:spcPts val="2905"/>
              </a:spcBef>
              <a:tabLst>
                <a:tab pos="1282065" algn="l"/>
                <a:tab pos="7760334" algn="l"/>
              </a:tabLst>
            </a:pPr>
            <a:r>
              <a:rPr lang="en-US" spc="-10" err="1">
                <a:latin typeface="Courier New"/>
                <a:cs typeface="Courier New"/>
              </a:rPr>
              <a:t>element.addEventListener</a:t>
            </a:r>
            <a:r>
              <a:rPr lang="en-US" spc="-10">
                <a:latin typeface="Courier New"/>
                <a:cs typeface="Courier New"/>
              </a:rPr>
              <a:t>("click",</a:t>
            </a:r>
            <a:r>
              <a:rPr lang="en-US">
                <a:latin typeface="Courier New"/>
                <a:cs typeface="Courier New"/>
              </a:rPr>
              <a:t>	</a:t>
            </a:r>
            <a:r>
              <a:rPr lang="en-US" spc="-10" err="1">
                <a:latin typeface="Courier New"/>
                <a:cs typeface="Courier New"/>
              </a:rPr>
              <a:t>mouseClick</a:t>
            </a:r>
            <a:r>
              <a:rPr lang="en-US" spc="-10">
                <a:latin typeface="Courier New"/>
                <a:cs typeface="Courier New"/>
              </a:rPr>
              <a:t>);</a:t>
            </a:r>
            <a:endParaRPr lang="en-US">
              <a:latin typeface="Courier New"/>
              <a:cs typeface="Courier New"/>
            </a:endParaRPr>
          </a:p>
          <a:p>
            <a:pPr marL="1282065" lvl="1" indent="-380365">
              <a:lnSpc>
                <a:spcPct val="100000"/>
              </a:lnSpc>
              <a:spcBef>
                <a:spcPts val="2100"/>
              </a:spcBef>
              <a:tabLst>
                <a:tab pos="1282065" algn="l"/>
                <a:tab pos="4330700" algn="l"/>
                <a:tab pos="4711700" algn="l"/>
              </a:tabLst>
            </a:pPr>
            <a:r>
              <a:rPr lang="en-US" spc="-10" err="1">
                <a:latin typeface="Courier New"/>
                <a:cs typeface="Courier New"/>
              </a:rPr>
              <a:t>element.onclick</a:t>
            </a:r>
            <a:r>
              <a:rPr lang="en-US">
                <a:latin typeface="Courier New"/>
                <a:cs typeface="Courier New"/>
              </a:rPr>
              <a:t>	</a:t>
            </a:r>
            <a:r>
              <a:rPr lang="en-US" spc="-50">
                <a:latin typeface="Courier New"/>
                <a:cs typeface="Courier New"/>
              </a:rPr>
              <a:t>=</a:t>
            </a:r>
            <a:r>
              <a:rPr lang="en-US">
                <a:latin typeface="Courier New"/>
                <a:cs typeface="Courier New"/>
              </a:rPr>
              <a:t>	</a:t>
            </a:r>
            <a:r>
              <a:rPr lang="en-US" spc="-10" err="1">
                <a:latin typeface="Courier New"/>
                <a:cs typeface="Courier New"/>
              </a:rPr>
              <a:t>mouseClick</a:t>
            </a:r>
            <a:r>
              <a:rPr lang="en-US" spc="-10">
                <a:latin typeface="Courier New"/>
                <a:cs typeface="Courier New"/>
              </a:rPr>
              <a:t>;</a:t>
            </a:r>
            <a:endParaRPr lang="en-US">
              <a:latin typeface="Courier New"/>
              <a:cs typeface="Courier New"/>
            </a:endParaRPr>
          </a:p>
          <a:p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2844174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EB79AD-F7D7-DE42-1C71-AC8AE9527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Front-End Frameworks and Libraries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9C488D-DCE9-0352-B23A-D9FC0A452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Frameworks</a:t>
            </a:r>
            <a:r>
              <a:rPr lang="en-US"/>
              <a:t>  simplifies development, enhances productivity, and promotes best practices.</a:t>
            </a:r>
          </a:p>
          <a:p>
            <a:pPr marL="0" indent="0">
              <a:buNone/>
            </a:pPr>
            <a:r>
              <a:rPr lang="en-US" b="1"/>
              <a:t>Angular:</a:t>
            </a:r>
            <a:r>
              <a:rPr lang="en-US"/>
              <a:t> Full-fledged MVC framework.</a:t>
            </a:r>
          </a:p>
          <a:p>
            <a:pPr marL="0" indent="0">
              <a:buNone/>
            </a:pPr>
            <a:r>
              <a:rPr lang="en-US" b="1"/>
              <a:t>jQuery</a:t>
            </a:r>
            <a:r>
              <a:rPr lang="en-US"/>
              <a:t> : legacy, still around but mostly avoid for new stuff.</a:t>
            </a:r>
          </a:p>
          <a:p>
            <a:pPr marL="0" indent="0">
              <a:buNone/>
            </a:pPr>
            <a:r>
              <a:rPr lang="en-US" b="1"/>
              <a:t>React: </a:t>
            </a:r>
            <a:r>
              <a:rPr lang="en-US"/>
              <a:t>Most widely used library for building UIs.</a:t>
            </a:r>
            <a:endParaRPr lang="en-US" b="1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860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D3F2B-92CB-B3EC-81A4-47BBE8C1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6C15DA-A184-97D1-1F47-5DC5CE01E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90788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A8D18DF04E7B24DB531D034DE08C523" ma:contentTypeVersion="3" ma:contentTypeDescription="Создание документа." ma:contentTypeScope="" ma:versionID="42e10639191b7e3b63d24bcf897b384e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5776f9c6e434ed901ab2dac168f69dd4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E47E9C-AA54-4757-9728-336C4622B3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A2F47C-3CE7-4338-8E0C-B538F1F05CBA}">
  <ds:schemaRefs>
    <ds:schemaRef ds:uri="7298b25e-4d51-4f6a-bbed-88dc6813a44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9946974-D790-4F3B-A99D-D2D4F2CCC7AF}">
  <ds:schemaRefs>
    <ds:schemaRef ds:uri="97039dda-64f8-41f1-b3d6-f92ff14c10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Тема Office</vt:lpstr>
      <vt:lpstr>Introduction to JavaScript</vt:lpstr>
      <vt:lpstr>What is JavaScript?</vt:lpstr>
      <vt:lpstr>History of JavaScript</vt:lpstr>
      <vt:lpstr>JavaScript Syntax</vt:lpstr>
      <vt:lpstr>Data Types</vt:lpstr>
      <vt:lpstr>Operators</vt:lpstr>
      <vt:lpstr>Control Structures</vt:lpstr>
      <vt:lpstr>Loops</vt:lpstr>
      <vt:lpstr>Functions</vt:lpstr>
      <vt:lpstr>DOM Manipulation</vt:lpstr>
      <vt:lpstr>Web Development with JavaScript</vt:lpstr>
      <vt:lpstr>HTML, CSS, and JavaScript</vt:lpstr>
      <vt:lpstr>JavaScript in the Browser</vt:lpstr>
      <vt:lpstr>DOM (Document Object Model)</vt:lpstr>
      <vt:lpstr>DOM hierarchy</vt:lpstr>
      <vt:lpstr>Accessing DOM Nodes</vt:lpstr>
      <vt:lpstr>More commonly used Node properties</vt:lpstr>
      <vt:lpstr>DOM and CSS interactions</vt:lpstr>
      <vt:lpstr>More DOM operations</vt:lpstr>
      <vt:lpstr>Event Handling</vt:lpstr>
      <vt:lpstr>JavaScript and DOM Events</vt:lpstr>
      <vt:lpstr>Event handling</vt:lpstr>
      <vt:lpstr>Specifying the JavaScript of an Event</vt:lpstr>
      <vt:lpstr>Front-End Frameworks and Libraries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Sholpan Saimassayeva</dc:creator>
  <cp:revision>2</cp:revision>
  <dcterms:created xsi:type="dcterms:W3CDTF">2026-02-02T06:10:53Z</dcterms:created>
  <dcterms:modified xsi:type="dcterms:W3CDTF">2026-02-10T05:46:00Z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</Properties>
</file>